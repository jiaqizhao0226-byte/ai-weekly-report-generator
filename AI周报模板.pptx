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sldIdLst>
    <p:sldId id="141170882" r:id="rId2"/>
    <p:sldId id="141171110" r:id="rId3"/>
    <p:sldId id="141171117" r:id="rId4"/>
    <p:sldId id="141171118" r:id="rId5"/>
    <p:sldId id="141171125" r:id="rId6"/>
    <p:sldId id="141171119" r:id="rId7"/>
    <p:sldId id="141171120" r:id="rId8"/>
    <p:sldId id="141171121" r:id="rId9"/>
    <p:sldId id="141171126" r:id="rId10"/>
    <p:sldId id="141171122" r:id="rId11"/>
    <p:sldId id="141171123" r:id="rId12"/>
    <p:sldId id="141171124" r:id="rId13"/>
    <p:sldId id="141171127" r:id="rId14"/>
    <p:sldId id="141170155" r:id="rId15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85"/>
    <p:restoredTop sz="95755"/>
  </p:normalViewPr>
  <p:slideViewPr>
    <p:cSldViewPr snapToGrid="0" snapToObjects="1">
      <p:cViewPr varScale="1">
        <p:scale>
          <a:sx n="128" d="100"/>
          <a:sy n="128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FCBDF6-F871-D44B-A793-5956F4FD39DD}" type="datetimeFigureOut">
              <a:rPr kumimoji="1" lang="zh-CN" altLang="en-US" smtClean="0"/>
              <a:t>2026/4/14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3CB8-6DE8-6E41-AC8F-83333742471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7733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2E7561-FEBC-4090-AA2E-0BB4366C6D4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245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4B73B-264F-4B2D-A723-A6258E4164E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451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B65071C-A6CF-47E9-B345-F41ACC9445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37327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B65071C-A6CF-47E9-B345-F41ACC944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ABAF10E-C07C-4077-B40C-1822F216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30" y="492435"/>
            <a:ext cx="11254155" cy="430887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>
              <a:lnSpc>
                <a:spcPct val="100000"/>
              </a:lnSpc>
              <a:defRPr sz="22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占位符 12">
            <a:extLst>
              <a:ext uri="{FF2B5EF4-FFF2-40B4-BE49-F238E27FC236}">
                <a16:creationId xmlns:a16="http://schemas.microsoft.com/office/drawing/2014/main" id="{BDD307B3-2DC8-4364-B364-A3EB109F1B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900" y="307248"/>
            <a:ext cx="10923539" cy="2154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155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B65071C-A6CF-47E9-B345-F41ACC9445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0153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B65071C-A6CF-47E9-B345-F41ACC944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ABAF10E-C07C-4077-B40C-1822F216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  <a:prstGeom prst="rect">
            <a:avLst/>
          </a:prstGeom>
        </p:spPr>
        <p:txBody>
          <a:bodyPr vert="horz" lIns="90000" tIns="46800" rIns="90000" bIns="46800">
            <a:spAutoFit/>
          </a:bodyPr>
          <a:lstStyle>
            <a:lvl1pPr>
              <a:lnSpc>
                <a:spcPct val="100000"/>
              </a:lnSpc>
              <a:defRPr sz="24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425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标题+标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B65071C-A6CF-47E9-B345-F41ACC9445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795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B65071C-A6CF-47E9-B345-F41ACC944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ABAF10E-C07C-4077-B40C-1822F216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30" y="492435"/>
            <a:ext cx="11254155" cy="430887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>
              <a:lnSpc>
                <a:spcPct val="100000"/>
              </a:lnSpc>
              <a:defRPr sz="22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9555070-C690-4DB3-8EAB-4220CDD8F8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754" y="6493226"/>
            <a:ext cx="10923539" cy="24622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  <p:sp>
        <p:nvSpPr>
          <p:cNvPr id="19" name="文本占位符 12">
            <a:extLst>
              <a:ext uri="{FF2B5EF4-FFF2-40B4-BE49-F238E27FC236}">
                <a16:creationId xmlns:a16="http://schemas.microsoft.com/office/drawing/2014/main" id="{44E0D5A5-6329-4256-8855-9B8F61E434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54" y="6247005"/>
            <a:ext cx="10923539" cy="24622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  <p:sp>
        <p:nvSpPr>
          <p:cNvPr id="8" name="文本占位符 12">
            <a:extLst>
              <a:ext uri="{FF2B5EF4-FFF2-40B4-BE49-F238E27FC236}">
                <a16:creationId xmlns:a16="http://schemas.microsoft.com/office/drawing/2014/main" id="{BDD307B3-2DC8-4364-B364-A3EB109F1B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900" y="307248"/>
            <a:ext cx="10923539" cy="2154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091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标题+备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 hidden="1">
            <a:extLst>
              <a:ext uri="{FF2B5EF4-FFF2-40B4-BE49-F238E27FC236}">
                <a16:creationId xmlns:a16="http://schemas.microsoft.com/office/drawing/2014/main" id="{9B65071C-A6CF-47E9-B345-F41ACC9445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690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4" name="对象 3" hidden="1">
                        <a:extLst>
                          <a:ext uri="{FF2B5EF4-FFF2-40B4-BE49-F238E27FC236}">
                            <a16:creationId xmlns:a16="http://schemas.microsoft.com/office/drawing/2014/main" id="{9B65071C-A6CF-47E9-B345-F41ACC944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CABAF10E-C07C-4077-B40C-1822F2167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  <a:prstGeom prst="rect">
            <a:avLst/>
          </a:prstGeom>
        </p:spPr>
        <p:txBody>
          <a:bodyPr vert="horz" lIns="90000" tIns="46800" rIns="90000" bIns="46800">
            <a:spAutoFit/>
          </a:bodyPr>
          <a:lstStyle>
            <a:lvl1pPr>
              <a:lnSpc>
                <a:spcPct val="100000"/>
              </a:lnSpc>
              <a:defRPr sz="2400" b="1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99555070-C690-4DB3-8EAB-4220CDD8F8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754" y="6493226"/>
            <a:ext cx="10923539" cy="24622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  <p:sp>
        <p:nvSpPr>
          <p:cNvPr id="19" name="文本占位符 12">
            <a:extLst>
              <a:ext uri="{FF2B5EF4-FFF2-40B4-BE49-F238E27FC236}">
                <a16:creationId xmlns:a16="http://schemas.microsoft.com/office/drawing/2014/main" id="{44E0D5A5-6329-4256-8855-9B8F61E434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754" y="6247005"/>
            <a:ext cx="10923539" cy="246221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44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277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017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31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57D14A-B714-425C-9C6D-6E4B308721C0}"/>
              </a:ext>
            </a:extLst>
          </p:cNvPr>
          <p:cNvSpPr/>
          <p:nvPr userDrawn="1"/>
        </p:nvSpPr>
        <p:spPr>
          <a:xfrm>
            <a:off x="3733800" y="5833533"/>
            <a:ext cx="4250267" cy="1024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89D4C2EC-DBEB-4478-A791-1A5DC6D9BD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3173081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425" imgH="426" progId="TCLayout.ActiveDocument.1">
                  <p:embed/>
                </p:oleObj>
              </mc:Choice>
              <mc:Fallback>
                <p:oleObj name="think-cell 幻灯片" r:id="rId11" imgW="425" imgH="426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89D4C2EC-DBEB-4478-A791-1A5DC6D9BD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13138172-B688-4A93-A08E-B10A62A5FFB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8977" y="39328"/>
            <a:ext cx="283023" cy="25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7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6" Type="http://schemas.openxmlformats.org/officeDocument/2006/relationships/image" Target="../media/image4.jpg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Relationship Id="rId6" Type="http://schemas.openxmlformats.org/officeDocument/2006/relationships/image" Target="../media/image4.jpg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69A7222E-E03B-40FB-94D5-D5A07EE3F09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8" imgH="408" progId="TCLayout.ActiveDocument.1">
                  <p:embed/>
                </p:oleObj>
              </mc:Choice>
              <mc:Fallback>
                <p:oleObj name="think-cell 幻灯片" r:id="rId4" imgW="408" imgH="40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69A7222E-E03B-40FB-94D5-D5A07EE3F0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770" name="Picture 2">
            <a:extLst>
              <a:ext uri="{FF2B5EF4-FFF2-40B4-BE49-F238E27FC236}">
                <a16:creationId xmlns:a16="http://schemas.microsoft.com/office/drawing/2014/main" id="{178B727B-6DFC-49C3-81A7-2785D1876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8" y="0"/>
            <a:ext cx="121941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B5E1848-61EE-4273-86D3-B4BAF5970726}"/>
              </a:ext>
            </a:extLst>
          </p:cNvPr>
          <p:cNvSpPr/>
          <p:nvPr/>
        </p:nvSpPr>
        <p:spPr>
          <a:xfrm>
            <a:off x="964" y="0"/>
            <a:ext cx="12207600" cy="6858000"/>
          </a:xfrm>
          <a:prstGeom prst="rect">
            <a:avLst/>
          </a:prstGeom>
          <a:solidFill>
            <a:srgbClr val="B8B8B8">
              <a:alpha val="29804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F0502020204030204"/>
              <a:ea typeface="华文楷体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1A87D9-7937-4454-BAB6-1281B2A714BE}"/>
              </a:ext>
            </a:extLst>
          </p:cNvPr>
          <p:cNvSpPr/>
          <p:nvPr/>
        </p:nvSpPr>
        <p:spPr>
          <a:xfrm>
            <a:off x="701143" y="609567"/>
            <a:ext cx="7836569" cy="347519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F0502020204030204"/>
              <a:ea typeface="华文楷体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896B42-823D-47DC-A007-C12A9297C36F}"/>
              </a:ext>
            </a:extLst>
          </p:cNvPr>
          <p:cNvSpPr txBox="1"/>
          <p:nvPr/>
        </p:nvSpPr>
        <p:spPr>
          <a:xfrm>
            <a:off x="2902365" y="3243693"/>
            <a:ext cx="4479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>
                <a:gradFill>
                  <a:gsLst>
                    <a:gs pos="0">
                      <a:srgbClr val="DCC574"/>
                    </a:gs>
                    <a:gs pos="5220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srgbClr val="DAC070"/>
                    </a:gs>
                  </a:gsLst>
                  <a:lin ang="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2025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年</a:t>
            </a:r>
            <a:r>
              <a:rPr lang="en-US" altLang="zh-CN" sz="1400" dirty="0">
                <a:solidFill>
                  <a:prstClr val="white"/>
                </a:solidFill>
              </a:rPr>
              <a:t>4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月第</a:t>
            </a:r>
            <a:r>
              <a:rPr lang="en-US" altLang="zh-CN" sz="1400" dirty="0">
                <a:solidFill>
                  <a:prstClr val="white"/>
                </a:solidFill>
              </a:rPr>
              <a:t>2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周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| 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+mn-cs"/>
              </a:rPr>
              <a:t>光子策略分析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86C08E1-B611-4CE7-A6AC-68C45392BC2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2391" y="918671"/>
            <a:ext cx="3707122" cy="624796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9D254C2-20FA-4745-9FD6-D7CB846AD8F7}"/>
              </a:ext>
            </a:extLst>
          </p:cNvPr>
          <p:cNvSpPr/>
          <p:nvPr/>
        </p:nvSpPr>
        <p:spPr>
          <a:xfrm>
            <a:off x="1192391" y="3179532"/>
            <a:ext cx="1403325" cy="43609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7DB86"/>
              </a:gs>
              <a:gs pos="72000">
                <a:srgbClr val="DBC37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F0502020204030204"/>
              <a:ea typeface="华文楷体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A29040-D9B9-4E3A-90CE-9A06F22E5530}"/>
              </a:ext>
            </a:extLst>
          </p:cNvPr>
          <p:cNvSpPr txBox="1"/>
          <p:nvPr/>
        </p:nvSpPr>
        <p:spPr>
          <a:xfrm>
            <a:off x="1345123" y="3243693"/>
            <a:ext cx="1154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5C2A08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Aharoni" panose="020B0604020202020204" pitchFamily="2" charset="-79"/>
              </a:rPr>
              <a:t>AI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rgbClr val="5C2A08"/>
                </a:solidFill>
                <a:effectLst/>
                <a:uLnTx/>
                <a:uFillTx/>
                <a:latin typeface="腾讯体 W7" panose="020C08030202040F0204" pitchFamily="34" charset="-122"/>
                <a:ea typeface="腾讯体 W7" panose="020C08030202040F0204" pitchFamily="34" charset="-122"/>
                <a:cs typeface="Aharoni" panose="020B0604020202020204" pitchFamily="2" charset="-79"/>
              </a:rPr>
              <a:t>技术专项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6147165-D0EE-4AD4-98C8-C4585C301691}"/>
              </a:ext>
            </a:extLst>
          </p:cNvPr>
          <p:cNvSpPr txBox="1"/>
          <p:nvPr/>
        </p:nvSpPr>
        <p:spPr>
          <a:xfrm>
            <a:off x="1118777" y="1852571"/>
            <a:ext cx="7071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>
                <a:gradFill>
                  <a:gsLst>
                    <a:gs pos="0">
                      <a:srgbClr val="DCC574"/>
                    </a:gs>
                    <a:gs pos="5220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srgbClr val="DAC070"/>
                    </a:gs>
                  </a:gsLst>
                  <a:lin ang="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腾讯体 W7" panose="020C08030202040F0204" pitchFamily="34" charset="-122"/>
                <a:cs typeface="+mn-cs"/>
              </a:rPr>
              <a:t>行业监控周报</a:t>
            </a:r>
            <a:endParaRPr kumimoji="0" lang="en-US" altLang="zh-CN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腾讯体 W7" panose="020C08030202040F0204" pitchFamily="34" charset="-122"/>
              <a:ea typeface="腾讯体 W7" panose="020C08030202040F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394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5D15315D-0378-4340-939D-19511CAFDB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0181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5D15315D-0378-4340-939D-19511CAFDB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FE56E06-FEC6-447D-A745-647866F89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基础模型动态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9D1C76-83C0-44A6-AC50-33A5B741A2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BCD5CD-B770-4178-8DBC-57DF197566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ED1F3B-295F-BB40-A447-26D571BB8B2B}"/>
              </a:ext>
            </a:extLst>
          </p:cNvPr>
          <p:cNvSpPr/>
          <p:nvPr/>
        </p:nvSpPr>
        <p:spPr>
          <a:xfrm>
            <a:off x="547300" y="3793422"/>
            <a:ext cx="8250192" cy="2453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  <a:endParaRPr lang="zh-CN" altLang="en-US" sz="1400" dirty="0"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ffectLst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78C351B-AEDE-F140-B801-A710873BB790}"/>
              </a:ext>
            </a:extLst>
          </p:cNvPr>
          <p:cNvSpPr/>
          <p:nvPr/>
        </p:nvSpPr>
        <p:spPr>
          <a:xfrm>
            <a:off x="547300" y="1017577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BED8A9-90BB-4022-C224-15AD81FA6156}"/>
              </a:ext>
            </a:extLst>
          </p:cNvPr>
          <p:cNvSpPr/>
          <p:nvPr/>
        </p:nvSpPr>
        <p:spPr>
          <a:xfrm>
            <a:off x="9044609" y="1017577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C053CB-F4B4-86D1-D414-AD6C60CEA1A2}"/>
              </a:ext>
            </a:extLst>
          </p:cNvPr>
          <p:cNvSpPr/>
          <p:nvPr/>
        </p:nvSpPr>
        <p:spPr>
          <a:xfrm>
            <a:off x="9044609" y="3793422"/>
            <a:ext cx="2703443" cy="245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617245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29CD3-8A33-731C-8981-CCC8C43F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0C235FD3-5374-7512-9359-7B378D4AB4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5D15315D-0378-4340-939D-19511CAFDB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1F7BA1F-4C5D-E1FC-72F2-DAA67CE42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基础模型动态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06BB9D-C87B-4619-E717-249BCEBC8C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ABCAFD-682C-82B8-6DAA-4A4C962E23F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8C90BB-F9B1-645C-281A-49A43B941440}"/>
              </a:ext>
            </a:extLst>
          </p:cNvPr>
          <p:cNvSpPr/>
          <p:nvPr/>
        </p:nvSpPr>
        <p:spPr>
          <a:xfrm>
            <a:off x="547300" y="3793422"/>
            <a:ext cx="8250192" cy="2453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  <a:endParaRPr lang="zh-CN" altLang="en-US" sz="1400" dirty="0"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ffectLst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D4CC71-CA14-4166-FA4D-7B61C61CA288}"/>
              </a:ext>
            </a:extLst>
          </p:cNvPr>
          <p:cNvSpPr/>
          <p:nvPr/>
        </p:nvSpPr>
        <p:spPr>
          <a:xfrm>
            <a:off x="547300" y="1017577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8B8780-F9CC-7CA5-3CEC-D0DE63C62861}"/>
              </a:ext>
            </a:extLst>
          </p:cNvPr>
          <p:cNvSpPr/>
          <p:nvPr/>
        </p:nvSpPr>
        <p:spPr>
          <a:xfrm>
            <a:off x="9044609" y="1017577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B27D32-28B2-19F6-4711-96B8893520F8}"/>
              </a:ext>
            </a:extLst>
          </p:cNvPr>
          <p:cNvSpPr/>
          <p:nvPr/>
        </p:nvSpPr>
        <p:spPr>
          <a:xfrm>
            <a:off x="9044609" y="3793422"/>
            <a:ext cx="2703443" cy="245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189938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6340A-9499-2A06-816A-797CF8E5D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3045F65F-4926-8417-3060-D29FC02A27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5D15315D-0378-4340-939D-19511CAFDB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4D8F207-805E-88A0-3917-46CB2EA8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基础模型动态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118C14-255B-74F4-90B3-D593B4881C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C65F19-FEDC-778D-0055-38FB31FB0C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FFCB10-7F97-4DD0-64BA-235C43786386}"/>
              </a:ext>
            </a:extLst>
          </p:cNvPr>
          <p:cNvSpPr/>
          <p:nvPr/>
        </p:nvSpPr>
        <p:spPr>
          <a:xfrm>
            <a:off x="547300" y="3793422"/>
            <a:ext cx="8250192" cy="2453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  <a:endParaRPr lang="zh-CN" altLang="en-US" sz="1400" dirty="0"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ffectLst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3543DAA-7ABA-43B6-AC67-C1B30A93EC3F}"/>
              </a:ext>
            </a:extLst>
          </p:cNvPr>
          <p:cNvSpPr/>
          <p:nvPr/>
        </p:nvSpPr>
        <p:spPr>
          <a:xfrm>
            <a:off x="547300" y="1017577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684BCD1-1E89-FFDD-1DFF-DE53A3D91AF1}"/>
              </a:ext>
            </a:extLst>
          </p:cNvPr>
          <p:cNvSpPr/>
          <p:nvPr/>
        </p:nvSpPr>
        <p:spPr>
          <a:xfrm>
            <a:off x="9044609" y="1017577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F277F8-7FD0-3FF9-F45E-57C5D9858C6E}"/>
              </a:ext>
            </a:extLst>
          </p:cNvPr>
          <p:cNvSpPr/>
          <p:nvPr/>
        </p:nvSpPr>
        <p:spPr>
          <a:xfrm>
            <a:off x="9044609" y="3793422"/>
            <a:ext cx="2703443" cy="245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137425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E3C59-F2E1-F384-C333-670BEA1C0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130CC9A2-7963-7CDB-76CE-405030ABE4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3045F65F-4926-8417-3060-D29FC02A27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0D748BF-8730-E068-7C19-457A91B4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基础模型动态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0B5529-19A6-ECDD-512C-3E843C2A4B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EFB660-8535-5428-02C6-B3E436563A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C1A4C3-348F-258F-80E5-19BDB974C21A}"/>
              </a:ext>
            </a:extLst>
          </p:cNvPr>
          <p:cNvSpPr/>
          <p:nvPr/>
        </p:nvSpPr>
        <p:spPr>
          <a:xfrm>
            <a:off x="567178" y="1961794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0DC03F-115A-8E98-FF08-80771BC7A886}"/>
              </a:ext>
            </a:extLst>
          </p:cNvPr>
          <p:cNvSpPr/>
          <p:nvPr/>
        </p:nvSpPr>
        <p:spPr>
          <a:xfrm>
            <a:off x="9044609" y="1961794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3037595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C4D01-24C2-BE71-207B-89AB7FF7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F6D6C291-5179-D1C6-51F3-2F0EC23B3F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3045F65F-4926-8417-3060-D29FC02A27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343D8D6-5511-1252-D155-D1CAE129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模型应用动态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7CD2B3-6CB3-56DF-4FC1-2BFE5CE35F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92619D-A8DC-4800-8D74-5F156FB5BF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6F5B70-7D83-A2D4-F5BF-011F1A947921}"/>
              </a:ext>
            </a:extLst>
          </p:cNvPr>
          <p:cNvSpPr/>
          <p:nvPr/>
        </p:nvSpPr>
        <p:spPr>
          <a:xfrm>
            <a:off x="547300" y="3793422"/>
            <a:ext cx="8250192" cy="2453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  <a:endParaRPr lang="zh-CN" altLang="en-US" sz="1400" dirty="0"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ffectLst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F686C04-CBC4-5D66-F058-496D8F253767}"/>
              </a:ext>
            </a:extLst>
          </p:cNvPr>
          <p:cNvSpPr/>
          <p:nvPr/>
        </p:nvSpPr>
        <p:spPr>
          <a:xfrm>
            <a:off x="547300" y="1017577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8BC5C6-96BA-CFAD-F684-96EA47F10455}"/>
              </a:ext>
            </a:extLst>
          </p:cNvPr>
          <p:cNvSpPr/>
          <p:nvPr/>
        </p:nvSpPr>
        <p:spPr>
          <a:xfrm>
            <a:off x="9044609" y="1017577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21E8E1-018F-916D-0F69-1F5946A8C657}"/>
              </a:ext>
            </a:extLst>
          </p:cNvPr>
          <p:cNvSpPr/>
          <p:nvPr/>
        </p:nvSpPr>
        <p:spPr>
          <a:xfrm>
            <a:off x="9044609" y="3793422"/>
            <a:ext cx="2703443" cy="245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1220221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E4B35-2CD0-16B9-D485-1A33860E2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B71EA93E-7AF7-C008-24EB-26D0FBD6568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F6D6C291-5179-D1C6-51F3-2F0EC23B3F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A7D0C64-DD67-8F80-3BD9-5AE24E58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模型应用动态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005047-1BAB-8991-4B06-A0316B631A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888696-49A4-075C-AEAF-43AFD8B1FC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AD9C12-EC6D-29CF-58F5-8EE124171B74}"/>
              </a:ext>
            </a:extLst>
          </p:cNvPr>
          <p:cNvSpPr/>
          <p:nvPr/>
        </p:nvSpPr>
        <p:spPr>
          <a:xfrm>
            <a:off x="547300" y="3793422"/>
            <a:ext cx="8250192" cy="2453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  <a:endParaRPr lang="zh-CN" altLang="en-US" sz="1400" dirty="0"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ffectLst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3A23C7-D332-7D28-8036-E8905839BF3F}"/>
              </a:ext>
            </a:extLst>
          </p:cNvPr>
          <p:cNvSpPr/>
          <p:nvPr/>
        </p:nvSpPr>
        <p:spPr>
          <a:xfrm>
            <a:off x="547300" y="1017577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3C0C3F-E2FB-D257-C8BA-3820F73BDE3B}"/>
              </a:ext>
            </a:extLst>
          </p:cNvPr>
          <p:cNvSpPr/>
          <p:nvPr/>
        </p:nvSpPr>
        <p:spPr>
          <a:xfrm>
            <a:off x="9044609" y="1017577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B28D93-4F06-7936-E4C1-B32383A71473}"/>
              </a:ext>
            </a:extLst>
          </p:cNvPr>
          <p:cNvSpPr/>
          <p:nvPr/>
        </p:nvSpPr>
        <p:spPr>
          <a:xfrm>
            <a:off x="9044609" y="3793422"/>
            <a:ext cx="2703443" cy="245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1362620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B6EF5-4E26-6DEF-830B-DEBE0D21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CC0445BA-0932-62DC-9725-16B236D300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F6D6C291-5179-D1C6-51F3-2F0EC23B3F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AA0A600-C51F-AD19-4ACE-4632A257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模型应用动态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96E2E4-DCDB-6A66-7F1A-203F5552F2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4063D4-ABD1-89E4-B960-0AA58068A4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AD4748-3912-EE0C-1B6B-13AB25443F3D}"/>
              </a:ext>
            </a:extLst>
          </p:cNvPr>
          <p:cNvSpPr/>
          <p:nvPr/>
        </p:nvSpPr>
        <p:spPr>
          <a:xfrm>
            <a:off x="547300" y="3793422"/>
            <a:ext cx="8250192" cy="2453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  <a:endParaRPr lang="zh-CN" altLang="en-US" sz="1400" dirty="0"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ffectLst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0BFEEF-8AC1-9909-9DC7-E80621EF534A}"/>
              </a:ext>
            </a:extLst>
          </p:cNvPr>
          <p:cNvSpPr/>
          <p:nvPr/>
        </p:nvSpPr>
        <p:spPr>
          <a:xfrm>
            <a:off x="547300" y="1017577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B476E5-A5D7-FD8A-A4F4-1951DB9BF956}"/>
              </a:ext>
            </a:extLst>
          </p:cNvPr>
          <p:cNvSpPr/>
          <p:nvPr/>
        </p:nvSpPr>
        <p:spPr>
          <a:xfrm>
            <a:off x="9044609" y="1017577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0A5D11-9AC8-46C3-38F3-0085651CF89D}"/>
              </a:ext>
            </a:extLst>
          </p:cNvPr>
          <p:cNvSpPr/>
          <p:nvPr/>
        </p:nvSpPr>
        <p:spPr>
          <a:xfrm>
            <a:off x="9044609" y="3793422"/>
            <a:ext cx="2703443" cy="245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3988280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75DD2-8DCA-42EA-F9AB-FAA1E4F23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5BAFB25B-D68E-8020-6B4F-C0B7E39A3B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130CC9A2-7963-7CDB-76CE-405030ABE4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7FA33F-196E-6436-E674-FF02C5BD8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模型应用动态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5A0AC3-CCA2-A976-A015-C00A9452D4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669AF7-0E32-FE60-51EE-BBB336D7B3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514736-476B-321E-B205-D7ED0A88F458}"/>
              </a:ext>
            </a:extLst>
          </p:cNvPr>
          <p:cNvSpPr/>
          <p:nvPr/>
        </p:nvSpPr>
        <p:spPr>
          <a:xfrm>
            <a:off x="567178" y="1961794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22612C0-8D02-25A1-26E0-B346B2585C7F}"/>
              </a:ext>
            </a:extLst>
          </p:cNvPr>
          <p:cNvSpPr/>
          <p:nvPr/>
        </p:nvSpPr>
        <p:spPr>
          <a:xfrm>
            <a:off x="9044609" y="1961794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422047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4EEC0-36D2-4F96-1789-35A309D94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8234209E-E7C6-79CC-CE17-26B6D9A95CA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F6D6C291-5179-D1C6-51F3-2F0EC23B3F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1D8C07E-A3BD-C6DA-26FE-3FF2DB122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厂商</a:t>
            </a:r>
            <a:r>
              <a:rPr lang="en-US" altLang="zh-CN" dirty="0"/>
              <a:t>&amp;</a:t>
            </a:r>
            <a:r>
              <a:rPr lang="zh-CN" altLang="en-US" dirty="0"/>
              <a:t>投融资动态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491B4B-A37B-9B21-B6E6-69800FF58E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F93859-38DA-64AF-E13D-30A7A6CC4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0790C-D227-417A-B10F-738EAA74EFFE}"/>
              </a:ext>
            </a:extLst>
          </p:cNvPr>
          <p:cNvSpPr/>
          <p:nvPr/>
        </p:nvSpPr>
        <p:spPr>
          <a:xfrm>
            <a:off x="547300" y="3793422"/>
            <a:ext cx="8250192" cy="2453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  <a:endParaRPr lang="zh-CN" altLang="en-US" sz="1400" dirty="0"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ffectLst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B9AD8D5-9456-E566-6A22-CDF38AD8393A}"/>
              </a:ext>
            </a:extLst>
          </p:cNvPr>
          <p:cNvSpPr/>
          <p:nvPr/>
        </p:nvSpPr>
        <p:spPr>
          <a:xfrm>
            <a:off x="547300" y="1017577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14B504-4363-F787-A68C-C0C95AD2025B}"/>
              </a:ext>
            </a:extLst>
          </p:cNvPr>
          <p:cNvSpPr/>
          <p:nvPr/>
        </p:nvSpPr>
        <p:spPr>
          <a:xfrm>
            <a:off x="9044609" y="1017577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EE3BF0-551F-08B8-05BE-B23438242D6B}"/>
              </a:ext>
            </a:extLst>
          </p:cNvPr>
          <p:cNvSpPr/>
          <p:nvPr/>
        </p:nvSpPr>
        <p:spPr>
          <a:xfrm>
            <a:off x="9044609" y="3793422"/>
            <a:ext cx="2703443" cy="245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1426254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58671-E763-115B-C46E-82986CC1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B56D40AC-6D58-0523-445B-E1B027761A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8234209E-E7C6-79CC-CE17-26B6D9A95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FDBDD6D3-B4E3-9677-A51C-372E24C8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厂商</a:t>
            </a:r>
            <a:r>
              <a:rPr lang="en-US" altLang="zh-CN" dirty="0"/>
              <a:t>&amp;</a:t>
            </a:r>
            <a:r>
              <a:rPr lang="zh-CN" altLang="en-US" dirty="0"/>
              <a:t>投融资动态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E0C64C-B8CD-16AF-0C9E-7B2BD9DDD4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8D29E4-1373-DDC9-1B8A-21E4BEA089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5A6BA6E-BDAD-F27A-076B-244EC5F73ECA}"/>
              </a:ext>
            </a:extLst>
          </p:cNvPr>
          <p:cNvSpPr/>
          <p:nvPr/>
        </p:nvSpPr>
        <p:spPr>
          <a:xfrm>
            <a:off x="547300" y="3793422"/>
            <a:ext cx="8250192" cy="2453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  <a:endParaRPr lang="zh-CN" altLang="en-US" sz="1400" dirty="0"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ffectLst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89FBA6-BC2B-8918-7700-AC83EE18730F}"/>
              </a:ext>
            </a:extLst>
          </p:cNvPr>
          <p:cNvSpPr/>
          <p:nvPr/>
        </p:nvSpPr>
        <p:spPr>
          <a:xfrm>
            <a:off x="547300" y="1017577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9C32D5-EB20-8FE2-6C96-43BC49330FCE}"/>
              </a:ext>
            </a:extLst>
          </p:cNvPr>
          <p:cNvSpPr/>
          <p:nvPr/>
        </p:nvSpPr>
        <p:spPr>
          <a:xfrm>
            <a:off x="9044609" y="1017577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E37191-BA62-46D6-0F2E-1C212D32AE6C}"/>
              </a:ext>
            </a:extLst>
          </p:cNvPr>
          <p:cNvSpPr/>
          <p:nvPr/>
        </p:nvSpPr>
        <p:spPr>
          <a:xfrm>
            <a:off x="9044609" y="3793422"/>
            <a:ext cx="2703443" cy="245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2217065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E0FA-F881-FF1D-535F-E6EAFF829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C452E764-AD08-504B-6560-47D0970D06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8234209E-E7C6-79CC-CE17-26B6D9A95C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BC45E94-F80B-E078-3930-B89ABCB39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厂商</a:t>
            </a:r>
            <a:r>
              <a:rPr lang="en-US" altLang="zh-CN" dirty="0"/>
              <a:t>&amp;</a:t>
            </a:r>
            <a:r>
              <a:rPr lang="zh-CN" altLang="en-US" dirty="0"/>
              <a:t>投融资动态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027100-0C65-8C50-3FE6-405C0E4002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8105A9-D22D-EECD-12B0-549C40CDCA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7BDA76-9C39-93A3-BE43-61B86192F73D}"/>
              </a:ext>
            </a:extLst>
          </p:cNvPr>
          <p:cNvSpPr/>
          <p:nvPr/>
        </p:nvSpPr>
        <p:spPr>
          <a:xfrm>
            <a:off x="547300" y="3793422"/>
            <a:ext cx="8250192" cy="24535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  <a:endParaRPr lang="zh-CN" altLang="en-US" sz="1400" dirty="0"/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400" dirty="0">
              <a:effectLst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0CD911-4F0B-D723-D914-688DB5A851AE}"/>
              </a:ext>
            </a:extLst>
          </p:cNvPr>
          <p:cNvSpPr/>
          <p:nvPr/>
        </p:nvSpPr>
        <p:spPr>
          <a:xfrm>
            <a:off x="547300" y="1017577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2B63A7-2FA2-B9A3-2B4A-0ED94D8C9878}"/>
              </a:ext>
            </a:extLst>
          </p:cNvPr>
          <p:cNvSpPr txBox="1"/>
          <p:nvPr/>
        </p:nvSpPr>
        <p:spPr>
          <a:xfrm>
            <a:off x="-298174" y="209715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Aft>
                <a:spcPts val="300"/>
              </a:spcAft>
            </a:pPr>
            <a:endParaRPr kumimoji="1" lang="zh-CN" altLang="en-US" sz="1400" dirty="0" err="1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A4A4B7-A692-2C7C-760C-1FA41017D22D}"/>
              </a:ext>
            </a:extLst>
          </p:cNvPr>
          <p:cNvSpPr/>
          <p:nvPr/>
        </p:nvSpPr>
        <p:spPr>
          <a:xfrm>
            <a:off x="9044609" y="1017577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37C3ED-B04F-7C30-5404-A4C286AFF58B}"/>
              </a:ext>
            </a:extLst>
          </p:cNvPr>
          <p:cNvSpPr/>
          <p:nvPr/>
        </p:nvSpPr>
        <p:spPr>
          <a:xfrm>
            <a:off x="9044609" y="3793422"/>
            <a:ext cx="2703443" cy="2453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3484088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9D05-7984-A036-0333-73F9BE957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>
            <a:extLst>
              <a:ext uri="{FF2B5EF4-FFF2-40B4-BE49-F238E27FC236}">
                <a16:creationId xmlns:a16="http://schemas.microsoft.com/office/drawing/2014/main" id="{47C0C972-2208-DF67-39E8-43E65AE488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25" imgH="426" progId="TCLayout.ActiveDocument.1">
                  <p:embed/>
                </p:oleObj>
              </mc:Choice>
              <mc:Fallback>
                <p:oleObj name="think-cell 幻灯片" r:id="rId3" imgW="425" imgH="426" progId="TCLayout.ActiveDocument.1">
                  <p:embed/>
                  <p:pic>
                    <p:nvPicPr>
                      <p:cNvPr id="5" name="对象 4" hidden="1">
                        <a:extLst>
                          <a:ext uri="{FF2B5EF4-FFF2-40B4-BE49-F238E27FC236}">
                            <a16:creationId xmlns:a16="http://schemas.microsoft.com/office/drawing/2014/main" id="{5BAFB25B-D68E-8020-6B4F-C0B7E39A3B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C3D9E6B-578E-58E4-06C2-AA00E33E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1" y="237181"/>
            <a:ext cx="11254155" cy="463846"/>
          </a:xfrm>
        </p:spPr>
        <p:txBody>
          <a:bodyPr vert="horz"/>
          <a:lstStyle/>
          <a:p>
            <a:r>
              <a:rPr lang="en-US" altLang="zh-CN" dirty="0"/>
              <a:t>【</a:t>
            </a:r>
            <a:r>
              <a:rPr lang="zh-CN" altLang="en-US" dirty="0"/>
              <a:t>本周关注</a:t>
            </a:r>
            <a:r>
              <a:rPr lang="en-US" altLang="zh-CN" dirty="0"/>
              <a:t>】</a:t>
            </a:r>
            <a:r>
              <a:rPr lang="zh-CN" altLang="en-US" dirty="0"/>
              <a:t>厂商</a:t>
            </a:r>
            <a:r>
              <a:rPr lang="en-US" altLang="zh-CN" dirty="0"/>
              <a:t>&amp;</a:t>
            </a:r>
            <a:r>
              <a:rPr lang="zh-CN" altLang="en-US" dirty="0"/>
              <a:t>投融资动态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314427-F92A-918C-BCD1-8808911D7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1150EB-B373-8984-5B99-64817D8F6F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53E4702-16C4-115D-9A96-2876A145ED88}"/>
              </a:ext>
            </a:extLst>
          </p:cNvPr>
          <p:cNvSpPr/>
          <p:nvPr/>
        </p:nvSpPr>
        <p:spPr>
          <a:xfrm>
            <a:off x="567178" y="1961794"/>
            <a:ext cx="8250192" cy="25696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新闻</a:t>
            </a:r>
            <a:r>
              <a:rPr kumimoji="1" lang="zh-CN" altLang="en" sz="14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kumimoji="1" lang="zh-CN" altLang="en-US" sz="1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241011-D6B0-575D-02C2-95F3F3E08E15}"/>
              </a:ext>
            </a:extLst>
          </p:cNvPr>
          <p:cNvSpPr/>
          <p:nvPr/>
        </p:nvSpPr>
        <p:spPr>
          <a:xfrm>
            <a:off x="9044609" y="1961794"/>
            <a:ext cx="2703443" cy="2569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图片占位符</a:t>
            </a:r>
          </a:p>
        </p:txBody>
      </p:sp>
    </p:spTree>
    <p:extLst>
      <p:ext uri="{BB962C8B-B14F-4D97-AF65-F5344CB8AC3E}">
        <p14:creationId xmlns:p14="http://schemas.microsoft.com/office/powerpoint/2010/main" val="2025202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>
            <a:extLst>
              <a:ext uri="{FF2B5EF4-FFF2-40B4-BE49-F238E27FC236}">
                <a16:creationId xmlns:a16="http://schemas.microsoft.com/office/drawing/2014/main" id="{C05BAACF-42DA-4A50-85B6-1628606A56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8" imgH="408" progId="TCLayout.ActiveDocument.1">
                  <p:embed/>
                </p:oleObj>
              </mc:Choice>
              <mc:Fallback>
                <p:oleObj name="think-cell 幻灯片" r:id="rId4" imgW="408" imgH="408" progId="TCLayout.ActiveDocument.1">
                  <p:embed/>
                  <p:pic>
                    <p:nvPicPr>
                      <p:cNvPr id="7" name="对象 6" hidden="1">
                        <a:extLst>
                          <a:ext uri="{FF2B5EF4-FFF2-40B4-BE49-F238E27FC236}">
                            <a16:creationId xmlns:a16="http://schemas.microsoft.com/office/drawing/2014/main" id="{C05BAACF-42DA-4A50-85B6-1628606A56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>
            <a:extLst>
              <a:ext uri="{FF2B5EF4-FFF2-40B4-BE49-F238E27FC236}">
                <a16:creationId xmlns:a16="http://schemas.microsoft.com/office/drawing/2014/main" id="{0E4978A5-DDA5-41BB-B0FA-6B8B04A43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98" y="0"/>
            <a:ext cx="121941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5A3C8A4-73AA-4CC5-AA9E-378CAD86C027}"/>
              </a:ext>
            </a:extLst>
          </p:cNvPr>
          <p:cNvSpPr/>
          <p:nvPr/>
        </p:nvSpPr>
        <p:spPr>
          <a:xfrm>
            <a:off x="964" y="0"/>
            <a:ext cx="12207600" cy="6858000"/>
          </a:xfrm>
          <a:prstGeom prst="rect">
            <a:avLst/>
          </a:prstGeom>
          <a:solidFill>
            <a:srgbClr val="B8B8B8">
              <a:alpha val="29804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F0502020204030204"/>
              <a:ea typeface="华文楷体"/>
              <a:cs typeface="+mn-ea"/>
              <a:sym typeface="+mn-lt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F384EDD-8732-4FA1-9364-5134A6B0D1F4}"/>
              </a:ext>
            </a:extLst>
          </p:cNvPr>
          <p:cNvSpPr/>
          <p:nvPr/>
        </p:nvSpPr>
        <p:spPr>
          <a:xfrm>
            <a:off x="701144" y="609567"/>
            <a:ext cx="6442606" cy="3475198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楷体" panose="020F0502020204030204"/>
              <a:ea typeface="华文楷体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43954C9-A0D8-4405-9D57-983790580869}"/>
              </a:ext>
            </a:extLst>
          </p:cNvPr>
          <p:cNvSpPr txBox="1"/>
          <p:nvPr/>
        </p:nvSpPr>
        <p:spPr>
          <a:xfrm>
            <a:off x="701144" y="1885501"/>
            <a:ext cx="64426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5400">
                <a:gradFill>
                  <a:gsLst>
                    <a:gs pos="0">
                      <a:srgbClr val="DCC574"/>
                    </a:gs>
                    <a:gs pos="5220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srgbClr val="DAC070"/>
                    </a:gs>
                  </a:gsLst>
                  <a:lin ang="0" scaled="0"/>
                </a:gradFill>
                <a:latin typeface="腾讯体 W7" panose="020C08030202040F0204" pitchFamily="34" charset="-122"/>
                <a:ea typeface="腾讯体 W7" panose="020C08030202040F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腾讯体 W7" panose="020C08030202040F0204" pitchFamily="34" charset="-122"/>
                <a:cs typeface="+mn-cs"/>
              </a:rPr>
              <a:t> 谢谢您的观看！</a:t>
            </a:r>
            <a:endParaRPr kumimoji="0" lang="en-US" altLang="zh-CN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腾讯体 W7" panose="020C08030202040F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90232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主题​​">
  <a:themeElements>
    <a:clrScheme name="策略分析">
      <a:dk1>
        <a:sysClr val="windowText" lastClr="000000"/>
      </a:dk1>
      <a:lt1>
        <a:sysClr val="window" lastClr="FFFFFF"/>
      </a:lt1>
      <a:dk2>
        <a:srgbClr val="212745"/>
      </a:dk2>
      <a:lt2>
        <a:srgbClr val="DEF4FC"/>
      </a:lt2>
      <a:accent1>
        <a:srgbClr val="0F6FC6"/>
      </a:accent1>
      <a:accent2>
        <a:srgbClr val="C8E3FB"/>
      </a:accent2>
      <a:accent3>
        <a:srgbClr val="7F7F7F"/>
      </a:accent3>
      <a:accent4>
        <a:srgbClr val="BFBFBF"/>
      </a:accent4>
      <a:accent5>
        <a:srgbClr val="D9D9D9"/>
      </a:accent5>
      <a:accent6>
        <a:srgbClr val="0BD0D9"/>
      </a:accent6>
      <a:hlink>
        <a:srgbClr val="10CF9B"/>
      </a:hlink>
      <a:folHlink>
        <a:srgbClr val="C9FAED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400" dirty="0" smtClean="0">
            <a:latin typeface="华文楷体" panose="02010600040101010101" pitchFamily="2" charset="-122"/>
            <a:ea typeface="华文楷体" panose="02010600040101010101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spcAft>
            <a:spcPts val="300"/>
          </a:spcAft>
          <a:defRPr sz="1400" dirty="0" err="1">
            <a:latin typeface="华文楷体" panose="02010600040101010101" pitchFamily="2" charset="-122"/>
            <a:ea typeface="华文楷体" panose="0201060004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4421</TotalTime>
  <Words>239</Words>
  <Application>Microsoft Macintosh PowerPoint</Application>
  <PresentationFormat>宽屏</PresentationFormat>
  <Paragraphs>60</Paragraphs>
  <Slides>14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华文楷体</vt:lpstr>
      <vt:lpstr>腾讯体 W7</vt:lpstr>
      <vt:lpstr>Arial</vt:lpstr>
      <vt:lpstr>1_Office 主题​​</vt:lpstr>
      <vt:lpstr>think-cell 幻灯片</vt:lpstr>
      <vt:lpstr>PowerPoint 演示文稿</vt:lpstr>
      <vt:lpstr>【本周关注】基础模型动态</vt:lpstr>
      <vt:lpstr>【本周关注】基础模型动态</vt:lpstr>
      <vt:lpstr>【本周关注】基础模型动态</vt:lpstr>
      <vt:lpstr>【本周关注】基础模型动态</vt:lpstr>
      <vt:lpstr>【本周关注】模型应用动态</vt:lpstr>
      <vt:lpstr>【本周关注】模型应用动态</vt:lpstr>
      <vt:lpstr>【本周关注】模型应用动态</vt:lpstr>
      <vt:lpstr>【本周关注】模型应用动态</vt:lpstr>
      <vt:lpstr>【本周关注】厂商&amp;投融资动态</vt:lpstr>
      <vt:lpstr>【本周关注】厂商&amp;投融资动态</vt:lpstr>
      <vt:lpstr>【本周关注】厂商&amp;投融资动态</vt:lpstr>
      <vt:lpstr>【本周关注】厂商&amp;投融资动态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DomingoChen</dc:creator>
  <cp:lastModifiedBy>T191913</cp:lastModifiedBy>
  <cp:revision>227</cp:revision>
  <dcterms:created xsi:type="dcterms:W3CDTF">2023-02-15T05:46:03Z</dcterms:created>
  <dcterms:modified xsi:type="dcterms:W3CDTF">2026-04-14T06:45:23Z</dcterms:modified>
</cp:coreProperties>
</file>