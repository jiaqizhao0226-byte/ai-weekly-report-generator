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141170882" r:id="rId2"/>
    <p:sldId id="141171109" r:id="rId3"/>
    <p:sldId id="141171112" r:id="rId4"/>
    <p:sldId id="141171113" r:id="rId5"/>
    <p:sldId id="141170155" r:id="rId6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73"/>
    <p:restoredTop sz="95755"/>
  </p:normalViewPr>
  <p:slideViewPr>
    <p:cSldViewPr snapToGrid="0" snapToObjects="1">
      <p:cViewPr varScale="1">
        <p:scale>
          <a:sx n="128" d="100"/>
          <a:sy n="128" d="100"/>
        </p:scale>
        <p:origin x="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FCBDF6-F871-D44B-A793-5956F4FD39DD}" type="datetimeFigureOut">
              <a:rPr kumimoji="1" lang="zh-CN" altLang="en-US" smtClean="0"/>
              <a:t>2026/2/28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D3CB8-6DE8-6E41-AC8F-8333374247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7733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2E7561-FEBC-4090-AA2E-0BB4366C6D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0245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4B73B-264F-4B2D-A723-A6258E4164E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451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双行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>
            <a:extLst>
              <a:ext uri="{FF2B5EF4-FFF2-40B4-BE49-F238E27FC236}">
                <a16:creationId xmlns:a16="http://schemas.microsoft.com/office/drawing/2014/main" id="{9B65071C-A6CF-47E9-B345-F41ACC9445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37327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4" name="对象 3" hidden="1">
                        <a:extLst>
                          <a:ext uri="{FF2B5EF4-FFF2-40B4-BE49-F238E27FC236}">
                            <a16:creationId xmlns:a16="http://schemas.microsoft.com/office/drawing/2014/main" id="{9B65071C-A6CF-47E9-B345-F41ACC9445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CABAF10E-C07C-4077-B40C-1822F216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930" y="492435"/>
            <a:ext cx="11254155" cy="430887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>
              <a:lnSpc>
                <a:spcPct val="100000"/>
              </a:lnSpc>
              <a:defRPr sz="2200" b="1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占位符 12">
            <a:extLst>
              <a:ext uri="{FF2B5EF4-FFF2-40B4-BE49-F238E27FC236}">
                <a16:creationId xmlns:a16="http://schemas.microsoft.com/office/drawing/2014/main" id="{BDD307B3-2DC8-4364-B364-A3EB109F1B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900" y="307248"/>
            <a:ext cx="10923539" cy="21544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155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行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>
            <a:extLst>
              <a:ext uri="{FF2B5EF4-FFF2-40B4-BE49-F238E27FC236}">
                <a16:creationId xmlns:a16="http://schemas.microsoft.com/office/drawing/2014/main" id="{9B65071C-A6CF-47E9-B345-F41ACC9445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01537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4" name="对象 3" hidden="1">
                        <a:extLst>
                          <a:ext uri="{FF2B5EF4-FFF2-40B4-BE49-F238E27FC236}">
                            <a16:creationId xmlns:a16="http://schemas.microsoft.com/office/drawing/2014/main" id="{9B65071C-A6CF-47E9-B345-F41ACC9445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CABAF10E-C07C-4077-B40C-1822F216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1" y="237181"/>
            <a:ext cx="11254155" cy="463846"/>
          </a:xfrm>
          <a:prstGeom prst="rect">
            <a:avLst/>
          </a:prstGeom>
        </p:spPr>
        <p:txBody>
          <a:bodyPr vert="horz" lIns="90000" tIns="46800" rIns="90000" bIns="46800">
            <a:spAutoFit/>
          </a:bodyPr>
          <a:lstStyle>
            <a:lvl1pPr>
              <a:lnSpc>
                <a:spcPct val="100000"/>
              </a:lnSpc>
              <a:defRPr sz="2400" b="1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4253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双标题+标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>
            <a:extLst>
              <a:ext uri="{FF2B5EF4-FFF2-40B4-BE49-F238E27FC236}">
                <a16:creationId xmlns:a16="http://schemas.microsoft.com/office/drawing/2014/main" id="{9B65071C-A6CF-47E9-B345-F41ACC9445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795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4" name="对象 3" hidden="1">
                        <a:extLst>
                          <a:ext uri="{FF2B5EF4-FFF2-40B4-BE49-F238E27FC236}">
                            <a16:creationId xmlns:a16="http://schemas.microsoft.com/office/drawing/2014/main" id="{9B65071C-A6CF-47E9-B345-F41ACC9445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CABAF10E-C07C-4077-B40C-1822F216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930" y="492435"/>
            <a:ext cx="11254155" cy="430887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>
              <a:lnSpc>
                <a:spcPct val="100000"/>
              </a:lnSpc>
              <a:defRPr sz="2200" b="1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99555070-C690-4DB3-8EAB-4220CDD8F8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754" y="6493226"/>
            <a:ext cx="10923539" cy="24622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endParaRPr lang="zh-CN" altLang="en-US" dirty="0"/>
          </a:p>
        </p:txBody>
      </p:sp>
      <p:sp>
        <p:nvSpPr>
          <p:cNvPr id="19" name="文本占位符 12">
            <a:extLst>
              <a:ext uri="{FF2B5EF4-FFF2-40B4-BE49-F238E27FC236}">
                <a16:creationId xmlns:a16="http://schemas.microsoft.com/office/drawing/2014/main" id="{44E0D5A5-6329-4256-8855-9B8F61E434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754" y="6247005"/>
            <a:ext cx="10923539" cy="24622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endParaRPr lang="zh-CN" altLang="en-US" dirty="0"/>
          </a:p>
        </p:txBody>
      </p:sp>
      <p:sp>
        <p:nvSpPr>
          <p:cNvPr id="8" name="文本占位符 12">
            <a:extLst>
              <a:ext uri="{FF2B5EF4-FFF2-40B4-BE49-F238E27FC236}">
                <a16:creationId xmlns:a16="http://schemas.microsoft.com/office/drawing/2014/main" id="{BDD307B3-2DC8-4364-B364-A3EB109F1B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900" y="307248"/>
            <a:ext cx="10923539" cy="21544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0917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标题+备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>
            <a:extLst>
              <a:ext uri="{FF2B5EF4-FFF2-40B4-BE49-F238E27FC236}">
                <a16:creationId xmlns:a16="http://schemas.microsoft.com/office/drawing/2014/main" id="{9B65071C-A6CF-47E9-B345-F41ACC9445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690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4" name="对象 3" hidden="1">
                        <a:extLst>
                          <a:ext uri="{FF2B5EF4-FFF2-40B4-BE49-F238E27FC236}">
                            <a16:creationId xmlns:a16="http://schemas.microsoft.com/office/drawing/2014/main" id="{9B65071C-A6CF-47E9-B345-F41ACC9445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CABAF10E-C07C-4077-B40C-1822F216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1" y="237181"/>
            <a:ext cx="11254155" cy="463846"/>
          </a:xfrm>
          <a:prstGeom prst="rect">
            <a:avLst/>
          </a:prstGeom>
        </p:spPr>
        <p:txBody>
          <a:bodyPr vert="horz" lIns="90000" tIns="46800" rIns="90000" bIns="46800">
            <a:spAutoFit/>
          </a:bodyPr>
          <a:lstStyle>
            <a:lvl1pPr>
              <a:lnSpc>
                <a:spcPct val="100000"/>
              </a:lnSpc>
              <a:defRPr sz="2400" b="1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99555070-C690-4DB3-8EAB-4220CDD8F8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754" y="6493226"/>
            <a:ext cx="10923539" cy="24622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endParaRPr lang="zh-CN" altLang="en-US" dirty="0"/>
          </a:p>
        </p:txBody>
      </p:sp>
      <p:sp>
        <p:nvSpPr>
          <p:cNvPr id="19" name="文本占位符 12">
            <a:extLst>
              <a:ext uri="{FF2B5EF4-FFF2-40B4-BE49-F238E27FC236}">
                <a16:creationId xmlns:a16="http://schemas.microsoft.com/office/drawing/2014/main" id="{44E0D5A5-6329-4256-8855-9B8F61E434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754" y="6247005"/>
            <a:ext cx="10923539" cy="24622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446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277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017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310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57D14A-B714-425C-9C6D-6E4B308721C0}"/>
              </a:ext>
            </a:extLst>
          </p:cNvPr>
          <p:cNvSpPr/>
          <p:nvPr userDrawn="1"/>
        </p:nvSpPr>
        <p:spPr>
          <a:xfrm>
            <a:off x="3733800" y="5833533"/>
            <a:ext cx="4250267" cy="1024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2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89D4C2EC-DBEB-4478-A791-1A5DC6D9BD7D}"/>
              </a:ext>
            </a:extLst>
          </p:cNvPr>
          <p:cNvGraphicFramePr>
            <a:graphicFrameLocks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3173081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425" imgH="426" progId="TCLayout.ActiveDocument.1">
                  <p:embed/>
                </p:oleObj>
              </mc:Choice>
              <mc:Fallback>
                <p:oleObj name="think-cell 幻灯片" r:id="rId11" imgW="425" imgH="426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89D4C2EC-DBEB-4478-A791-1A5DC6D9BD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13138172-B688-4A93-A08E-B10A62A5FFB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08977" y="39328"/>
            <a:ext cx="283023" cy="25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773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Relationship Id="rId6" Type="http://schemas.openxmlformats.org/officeDocument/2006/relationships/image" Target="../media/image4.jpg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.xml"/><Relationship Id="rId6" Type="http://schemas.openxmlformats.org/officeDocument/2006/relationships/image" Target="../media/image4.jpg"/><Relationship Id="rId5" Type="http://schemas.openxmlformats.org/officeDocument/2006/relationships/image" Target="../media/image3.emf"/><Relationship Id="rId4" Type="http://schemas.openxmlformats.org/officeDocument/2006/relationships/oleObject" Target="../embeddings/oleObject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69A7222E-E03B-40FB-94D5-D5A07EE3F09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8" imgH="408" progId="TCLayout.ActiveDocument.1">
                  <p:embed/>
                </p:oleObj>
              </mc:Choice>
              <mc:Fallback>
                <p:oleObj name="think-cell 幻灯片" r:id="rId4" imgW="408" imgH="40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69A7222E-E03B-40FB-94D5-D5A07EE3F0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770" name="Picture 2">
            <a:extLst>
              <a:ext uri="{FF2B5EF4-FFF2-40B4-BE49-F238E27FC236}">
                <a16:creationId xmlns:a16="http://schemas.microsoft.com/office/drawing/2014/main" id="{178B727B-6DFC-49C3-81A7-2785D1876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98" y="0"/>
            <a:ext cx="1219416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BB5E1848-61EE-4273-86D3-B4BAF5970726}"/>
              </a:ext>
            </a:extLst>
          </p:cNvPr>
          <p:cNvSpPr/>
          <p:nvPr/>
        </p:nvSpPr>
        <p:spPr>
          <a:xfrm>
            <a:off x="964" y="0"/>
            <a:ext cx="12207600" cy="6858000"/>
          </a:xfrm>
          <a:prstGeom prst="rect">
            <a:avLst/>
          </a:prstGeom>
          <a:solidFill>
            <a:srgbClr val="B8B8B8">
              <a:alpha val="29804"/>
            </a:srgb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F0502020204030204"/>
              <a:ea typeface="华文楷体"/>
              <a:cs typeface="+mn-ea"/>
              <a:sym typeface="+mn-lt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1A87D9-7937-4454-BAB6-1281B2A714BE}"/>
              </a:ext>
            </a:extLst>
          </p:cNvPr>
          <p:cNvSpPr/>
          <p:nvPr/>
        </p:nvSpPr>
        <p:spPr>
          <a:xfrm>
            <a:off x="701143" y="609567"/>
            <a:ext cx="7836569" cy="347519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F0502020204030204"/>
              <a:ea typeface="华文楷体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A896B42-823D-47DC-A007-C12A9297C36F}"/>
              </a:ext>
            </a:extLst>
          </p:cNvPr>
          <p:cNvSpPr txBox="1"/>
          <p:nvPr/>
        </p:nvSpPr>
        <p:spPr>
          <a:xfrm>
            <a:off x="2902365" y="3243693"/>
            <a:ext cx="3734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>
                <a:gradFill>
                  <a:gsLst>
                    <a:gs pos="0">
                      <a:srgbClr val="DCC574"/>
                    </a:gs>
                    <a:gs pos="52200">
                      <a:schemeClr val="accent4">
                        <a:lumMod val="40000"/>
                        <a:lumOff val="60000"/>
                      </a:schemeClr>
                    </a:gs>
                    <a:gs pos="100000">
                      <a:srgbClr val="DAC070"/>
                    </a:gs>
                  </a:gsLst>
                  <a:lin ang="0" scaled="0"/>
                </a:gradFill>
                <a:latin typeface="腾讯体 W7" panose="020C08030202040F0204" pitchFamily="34" charset="-122"/>
                <a:ea typeface="腾讯体 W7" panose="020C08030202040F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月第</a:t>
            </a:r>
            <a:r>
              <a:rPr lang="en-US" altLang="zh-CN" sz="1400" dirty="0">
                <a:solidFill>
                  <a:prstClr val="white"/>
                </a:solidFill>
              </a:rPr>
              <a:t>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周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| 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光子策略分析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86C08E1-B611-4CE7-A6AC-68C45392BC2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92391" y="918671"/>
            <a:ext cx="3707122" cy="624796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9D254C2-20FA-4745-9FD6-D7CB846AD8F7}"/>
              </a:ext>
            </a:extLst>
          </p:cNvPr>
          <p:cNvSpPr/>
          <p:nvPr/>
        </p:nvSpPr>
        <p:spPr>
          <a:xfrm>
            <a:off x="1192391" y="3179532"/>
            <a:ext cx="1403325" cy="43609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7DB86"/>
              </a:gs>
              <a:gs pos="72000">
                <a:srgbClr val="DBC37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F0502020204030204"/>
              <a:ea typeface="华文楷体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BA29040-D9B9-4E3A-90CE-9A06F22E5530}"/>
              </a:ext>
            </a:extLst>
          </p:cNvPr>
          <p:cNvSpPr txBox="1"/>
          <p:nvPr/>
        </p:nvSpPr>
        <p:spPr>
          <a:xfrm>
            <a:off x="1345123" y="3243693"/>
            <a:ext cx="1154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5C2A08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Aharoni" panose="020B0604020202020204" pitchFamily="2" charset="-79"/>
              </a:rPr>
              <a:t>AI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rgbClr val="5C2A08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Aharoni" panose="020B0604020202020204" pitchFamily="2" charset="-79"/>
              </a:rPr>
              <a:t>技术专项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6147165-D0EE-4AD4-98C8-C4585C301691}"/>
              </a:ext>
            </a:extLst>
          </p:cNvPr>
          <p:cNvSpPr txBox="1"/>
          <p:nvPr/>
        </p:nvSpPr>
        <p:spPr>
          <a:xfrm>
            <a:off x="1118777" y="1852571"/>
            <a:ext cx="7071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>
                <a:gradFill>
                  <a:gsLst>
                    <a:gs pos="0">
                      <a:srgbClr val="DCC574"/>
                    </a:gs>
                    <a:gs pos="52200">
                      <a:schemeClr val="accent4">
                        <a:lumMod val="40000"/>
                        <a:lumOff val="60000"/>
                      </a:schemeClr>
                    </a:gs>
                    <a:gs pos="100000">
                      <a:srgbClr val="DAC070"/>
                    </a:gs>
                  </a:gsLst>
                  <a:lin ang="0" scaled="0"/>
                </a:gradFill>
                <a:latin typeface="腾讯体 W7" panose="020C08030202040F0204" pitchFamily="34" charset="-122"/>
                <a:ea typeface="腾讯体 W7" panose="020C08030202040F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腾讯体 W7" panose="020C08030202040F0204" pitchFamily="34" charset="-122"/>
                <a:cs typeface="+mn-cs"/>
              </a:rPr>
              <a:t>行业监控周报</a:t>
            </a:r>
            <a:endParaRPr kumimoji="0" lang="en-US" altLang="zh-CN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3948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>
            <a:extLst>
              <a:ext uri="{FF2B5EF4-FFF2-40B4-BE49-F238E27FC236}">
                <a16:creationId xmlns:a16="http://schemas.microsoft.com/office/drawing/2014/main" id="{5D15315D-0378-4340-939D-19511CAFDBF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96716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5" name="对象 4" hidden="1">
                        <a:extLst>
                          <a:ext uri="{FF2B5EF4-FFF2-40B4-BE49-F238E27FC236}">
                            <a16:creationId xmlns:a16="http://schemas.microsoft.com/office/drawing/2014/main" id="{5D15315D-0378-4340-939D-19511CAFDB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7FE56E06-FEC6-447D-A745-647866F89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1" y="237181"/>
            <a:ext cx="11254155" cy="463846"/>
          </a:xfrm>
        </p:spPr>
        <p:txBody>
          <a:bodyPr vert="horz" rIns="90000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本周关注</a:t>
            </a:r>
            <a:r>
              <a:rPr lang="en-US" altLang="zh-CN" dirty="0"/>
              <a:t>】</a:t>
            </a:r>
            <a:r>
              <a:rPr lang="zh-CN" altLang="en-US" dirty="0"/>
              <a:t>模型动态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9D1C76-83C0-44A6-AC50-33A5B741A2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BCD5CD-B770-4178-8DBC-57DF197566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78C351B-AEDE-F140-B801-A710873BB790}"/>
              </a:ext>
            </a:extLst>
          </p:cNvPr>
          <p:cNvSpPr/>
          <p:nvPr/>
        </p:nvSpPr>
        <p:spPr>
          <a:xfrm>
            <a:off x="547299" y="1065383"/>
            <a:ext cx="7122463" cy="22093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新闻标题：</a:t>
            </a:r>
            <a:r>
              <a:rPr kumimoji="1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新闻内容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1C9B73E-2F2C-24FB-818E-B542F378E853}"/>
              </a:ext>
            </a:extLst>
          </p:cNvPr>
          <p:cNvSpPr/>
          <p:nvPr/>
        </p:nvSpPr>
        <p:spPr>
          <a:xfrm>
            <a:off x="7945325" y="1065383"/>
            <a:ext cx="3699375" cy="22093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对应图片</a:t>
            </a:r>
            <a:endParaRPr kumimoji="1" lang="zh-CN" alt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3457F6-E66A-7A6D-90D7-99EC68B7E80E}"/>
              </a:ext>
            </a:extLst>
          </p:cNvPr>
          <p:cNvSpPr/>
          <p:nvPr/>
        </p:nvSpPr>
        <p:spPr>
          <a:xfrm>
            <a:off x="7945325" y="3583234"/>
            <a:ext cx="3699375" cy="22093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对应图片</a:t>
            </a:r>
            <a:endParaRPr kumimoji="1" lang="zh-CN" alt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9E47F47-B32B-48D1-E960-C82673009BC1}"/>
              </a:ext>
            </a:extLst>
          </p:cNvPr>
          <p:cNvSpPr/>
          <p:nvPr/>
        </p:nvSpPr>
        <p:spPr>
          <a:xfrm>
            <a:off x="547298" y="3583233"/>
            <a:ext cx="7122463" cy="22093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新闻标题：</a:t>
            </a:r>
            <a:r>
              <a:rPr kumimoji="1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新闻内容</a:t>
            </a:r>
          </a:p>
        </p:txBody>
      </p:sp>
    </p:spTree>
    <p:extLst>
      <p:ext uri="{BB962C8B-B14F-4D97-AF65-F5344CB8AC3E}">
        <p14:creationId xmlns:p14="http://schemas.microsoft.com/office/powerpoint/2010/main" val="3412803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46CE9-3939-3D66-6802-F244239C3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>
            <a:extLst>
              <a:ext uri="{FF2B5EF4-FFF2-40B4-BE49-F238E27FC236}">
                <a16:creationId xmlns:a16="http://schemas.microsoft.com/office/drawing/2014/main" id="{4DA99E7C-4522-7818-3AC6-ECAE6E71790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5" name="对象 4" hidden="1">
                        <a:extLst>
                          <a:ext uri="{FF2B5EF4-FFF2-40B4-BE49-F238E27FC236}">
                            <a16:creationId xmlns:a16="http://schemas.microsoft.com/office/drawing/2014/main" id="{5D15315D-0378-4340-939D-19511CAFDB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C04CFB5-9A95-2D12-E372-84FC93B35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1" y="237181"/>
            <a:ext cx="11254155" cy="463846"/>
          </a:xfrm>
        </p:spPr>
        <p:txBody>
          <a:bodyPr vert="horz" rIns="90000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本周关注</a:t>
            </a:r>
            <a:r>
              <a:rPr lang="en-US" altLang="zh-CN" dirty="0"/>
              <a:t>】</a:t>
            </a:r>
            <a:r>
              <a:rPr lang="zh-CN" altLang="en-US" dirty="0"/>
              <a:t>应用动态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1C6125-D24B-0842-FB7F-F17E84BAD0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4DCC34-B54B-CFC8-B858-B9067FB6F4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0B6625F-D560-FB22-5589-5E2FE44058CB}"/>
              </a:ext>
            </a:extLst>
          </p:cNvPr>
          <p:cNvSpPr/>
          <p:nvPr/>
        </p:nvSpPr>
        <p:spPr>
          <a:xfrm>
            <a:off x="547299" y="1065383"/>
            <a:ext cx="7122463" cy="22093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新闻标题：</a:t>
            </a:r>
            <a:r>
              <a:rPr kumimoji="1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新闻内容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4B5CAF-8CDA-63FD-AE91-F628A13AE9B9}"/>
              </a:ext>
            </a:extLst>
          </p:cNvPr>
          <p:cNvSpPr/>
          <p:nvPr/>
        </p:nvSpPr>
        <p:spPr>
          <a:xfrm>
            <a:off x="7945325" y="1065383"/>
            <a:ext cx="3699375" cy="22093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对应图片</a:t>
            </a:r>
            <a:endParaRPr kumimoji="1" lang="zh-CN" alt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BD01D3-9BAF-47E9-871A-E2E42E96736C}"/>
              </a:ext>
            </a:extLst>
          </p:cNvPr>
          <p:cNvSpPr/>
          <p:nvPr/>
        </p:nvSpPr>
        <p:spPr>
          <a:xfrm>
            <a:off x="7945325" y="3583234"/>
            <a:ext cx="3699375" cy="22093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对应图片</a:t>
            </a:r>
            <a:endParaRPr kumimoji="1" lang="zh-CN" alt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44C1CA-B716-D689-C077-02B3BAFBC8F1}"/>
              </a:ext>
            </a:extLst>
          </p:cNvPr>
          <p:cNvSpPr/>
          <p:nvPr/>
        </p:nvSpPr>
        <p:spPr>
          <a:xfrm>
            <a:off x="547298" y="3583233"/>
            <a:ext cx="7122463" cy="22093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新闻标题：</a:t>
            </a:r>
            <a:r>
              <a:rPr kumimoji="1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新闻内容</a:t>
            </a:r>
          </a:p>
        </p:txBody>
      </p:sp>
    </p:spTree>
    <p:extLst>
      <p:ext uri="{BB962C8B-B14F-4D97-AF65-F5344CB8AC3E}">
        <p14:creationId xmlns:p14="http://schemas.microsoft.com/office/powerpoint/2010/main" val="1452059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E0D48-64C2-321D-2D8F-9D05CCBC2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>
            <a:extLst>
              <a:ext uri="{FF2B5EF4-FFF2-40B4-BE49-F238E27FC236}">
                <a16:creationId xmlns:a16="http://schemas.microsoft.com/office/drawing/2014/main" id="{7A3E46BE-388B-0FE8-A08E-5E2124DDE57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5" name="对象 4" hidden="1">
                        <a:extLst>
                          <a:ext uri="{FF2B5EF4-FFF2-40B4-BE49-F238E27FC236}">
                            <a16:creationId xmlns:a16="http://schemas.microsoft.com/office/drawing/2014/main" id="{4DA99E7C-4522-7818-3AC6-ECAE6E7179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C8F39A8E-8C92-9A5B-8ACA-DE8133C6D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1" y="237181"/>
            <a:ext cx="11254155" cy="463846"/>
          </a:xfrm>
        </p:spPr>
        <p:txBody>
          <a:bodyPr vert="horz" rIns="90000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本周关注</a:t>
            </a:r>
            <a:r>
              <a:rPr lang="en-US" altLang="zh-CN" dirty="0"/>
              <a:t>】</a:t>
            </a:r>
            <a:r>
              <a:rPr lang="zh-CN" altLang="en-US" dirty="0"/>
              <a:t>厂商</a:t>
            </a:r>
            <a:r>
              <a:rPr lang="en-US" altLang="zh-CN" dirty="0"/>
              <a:t>&amp;</a:t>
            </a:r>
            <a:r>
              <a:rPr lang="zh-CN" altLang="en-US" dirty="0"/>
              <a:t>投融资动态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F2E01A-DE12-DCC1-6D2E-48B911224E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184D88-C606-FF12-C0C5-3B86622FB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DC6E340-1565-CDE3-7922-D310E558623F}"/>
              </a:ext>
            </a:extLst>
          </p:cNvPr>
          <p:cNvSpPr/>
          <p:nvPr/>
        </p:nvSpPr>
        <p:spPr>
          <a:xfrm>
            <a:off x="547299" y="1065383"/>
            <a:ext cx="7122463" cy="22093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新闻标题：</a:t>
            </a:r>
            <a:r>
              <a:rPr kumimoji="1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新闻内容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BBB513-39FF-5FFD-EB43-E37ACAE6F6E2}"/>
              </a:ext>
            </a:extLst>
          </p:cNvPr>
          <p:cNvSpPr/>
          <p:nvPr/>
        </p:nvSpPr>
        <p:spPr>
          <a:xfrm>
            <a:off x="7945325" y="1065383"/>
            <a:ext cx="3699375" cy="22093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对应图片</a:t>
            </a:r>
            <a:endParaRPr kumimoji="1" lang="zh-CN" alt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C94435-566C-A47D-9F83-6798AD72E105}"/>
              </a:ext>
            </a:extLst>
          </p:cNvPr>
          <p:cNvSpPr/>
          <p:nvPr/>
        </p:nvSpPr>
        <p:spPr>
          <a:xfrm>
            <a:off x="7945325" y="3583234"/>
            <a:ext cx="3699375" cy="22093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对应图片</a:t>
            </a:r>
            <a:endParaRPr kumimoji="1" lang="zh-CN" alt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737E2C-C838-17E6-79A0-FAB142B91310}"/>
              </a:ext>
            </a:extLst>
          </p:cNvPr>
          <p:cNvSpPr/>
          <p:nvPr/>
        </p:nvSpPr>
        <p:spPr>
          <a:xfrm>
            <a:off x="547298" y="3583233"/>
            <a:ext cx="7122463" cy="22093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新闻标题：</a:t>
            </a:r>
            <a:r>
              <a:rPr kumimoji="1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新闻内容</a:t>
            </a:r>
          </a:p>
        </p:txBody>
      </p:sp>
    </p:spTree>
    <p:extLst>
      <p:ext uri="{BB962C8B-B14F-4D97-AF65-F5344CB8AC3E}">
        <p14:creationId xmlns:p14="http://schemas.microsoft.com/office/powerpoint/2010/main" val="1684934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 hidden="1">
            <a:extLst>
              <a:ext uri="{FF2B5EF4-FFF2-40B4-BE49-F238E27FC236}">
                <a16:creationId xmlns:a16="http://schemas.microsoft.com/office/drawing/2014/main" id="{C05BAACF-42DA-4A50-85B6-1628606A569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8" imgH="408" progId="TCLayout.ActiveDocument.1">
                  <p:embed/>
                </p:oleObj>
              </mc:Choice>
              <mc:Fallback>
                <p:oleObj name="think-cell 幻灯片" r:id="rId4" imgW="408" imgH="408" progId="TCLayout.ActiveDocument.1">
                  <p:embed/>
                  <p:pic>
                    <p:nvPicPr>
                      <p:cNvPr id="7" name="对象 6" hidden="1">
                        <a:extLst>
                          <a:ext uri="{FF2B5EF4-FFF2-40B4-BE49-F238E27FC236}">
                            <a16:creationId xmlns:a16="http://schemas.microsoft.com/office/drawing/2014/main" id="{C05BAACF-42DA-4A50-85B6-1628606A56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>
            <a:extLst>
              <a:ext uri="{FF2B5EF4-FFF2-40B4-BE49-F238E27FC236}">
                <a16:creationId xmlns:a16="http://schemas.microsoft.com/office/drawing/2014/main" id="{0E4978A5-DDA5-41BB-B0FA-6B8B04A43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98" y="0"/>
            <a:ext cx="1219416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5A3C8A4-73AA-4CC5-AA9E-378CAD86C027}"/>
              </a:ext>
            </a:extLst>
          </p:cNvPr>
          <p:cNvSpPr/>
          <p:nvPr/>
        </p:nvSpPr>
        <p:spPr>
          <a:xfrm>
            <a:off x="964" y="0"/>
            <a:ext cx="12207600" cy="6858000"/>
          </a:xfrm>
          <a:prstGeom prst="rect">
            <a:avLst/>
          </a:prstGeom>
          <a:solidFill>
            <a:srgbClr val="B8B8B8">
              <a:alpha val="29804"/>
            </a:srgb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F0502020204030204"/>
              <a:ea typeface="华文楷体"/>
              <a:cs typeface="+mn-ea"/>
              <a:sym typeface="+mn-lt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F384EDD-8732-4FA1-9364-5134A6B0D1F4}"/>
              </a:ext>
            </a:extLst>
          </p:cNvPr>
          <p:cNvSpPr/>
          <p:nvPr/>
        </p:nvSpPr>
        <p:spPr>
          <a:xfrm>
            <a:off x="701144" y="609567"/>
            <a:ext cx="6442606" cy="347519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F0502020204030204"/>
              <a:ea typeface="华文楷体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43954C9-A0D8-4405-9D57-983790580869}"/>
              </a:ext>
            </a:extLst>
          </p:cNvPr>
          <p:cNvSpPr txBox="1"/>
          <p:nvPr/>
        </p:nvSpPr>
        <p:spPr>
          <a:xfrm>
            <a:off x="701144" y="1885501"/>
            <a:ext cx="64426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>
                <a:gradFill>
                  <a:gsLst>
                    <a:gs pos="0">
                      <a:srgbClr val="DCC574"/>
                    </a:gs>
                    <a:gs pos="52200">
                      <a:schemeClr val="accent4">
                        <a:lumMod val="40000"/>
                        <a:lumOff val="60000"/>
                      </a:schemeClr>
                    </a:gs>
                    <a:gs pos="100000">
                      <a:srgbClr val="DAC070"/>
                    </a:gs>
                  </a:gsLst>
                  <a:lin ang="0" scaled="0"/>
                </a:gradFill>
                <a:latin typeface="腾讯体 W7" panose="020C08030202040F0204" pitchFamily="34" charset="-122"/>
                <a:ea typeface="腾讯体 W7" panose="020C08030202040F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腾讯体 W7" panose="020C08030202040F0204" pitchFamily="34" charset="-122"/>
                <a:cs typeface="+mn-cs"/>
              </a:rPr>
              <a:t> 谢谢您的观看！</a:t>
            </a:r>
            <a:endParaRPr kumimoji="0" lang="en-US" altLang="zh-CN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腾讯体 W7" panose="020C08030202040F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90232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主题​​">
  <a:themeElements>
    <a:clrScheme name="策略分析">
      <a:dk1>
        <a:sysClr val="windowText" lastClr="000000"/>
      </a:dk1>
      <a:lt1>
        <a:sysClr val="window" lastClr="FFFFFF"/>
      </a:lt1>
      <a:dk2>
        <a:srgbClr val="212745"/>
      </a:dk2>
      <a:lt2>
        <a:srgbClr val="DEF4FC"/>
      </a:lt2>
      <a:accent1>
        <a:srgbClr val="0F6FC6"/>
      </a:accent1>
      <a:accent2>
        <a:srgbClr val="C8E3FB"/>
      </a:accent2>
      <a:accent3>
        <a:srgbClr val="7F7F7F"/>
      </a:accent3>
      <a:accent4>
        <a:srgbClr val="BFBFBF"/>
      </a:accent4>
      <a:accent5>
        <a:srgbClr val="D9D9D9"/>
      </a:accent5>
      <a:accent6>
        <a:srgbClr val="0BD0D9"/>
      </a:accent6>
      <a:hlink>
        <a:srgbClr val="10CF9B"/>
      </a:hlink>
      <a:folHlink>
        <a:srgbClr val="C9FAED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400" dirty="0" smtClean="0">
            <a:latin typeface="华文楷体" panose="02010600040101010101" pitchFamily="2" charset="-122"/>
            <a:ea typeface="华文楷体" panose="02010600040101010101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spcAft>
            <a:spcPts val="300"/>
          </a:spcAft>
          <a:defRPr sz="1400" dirty="0" err="1">
            <a:latin typeface="华文楷体" panose="02010600040101010101" pitchFamily="2" charset="-122"/>
            <a:ea typeface="华文楷体" panose="02010600040101010101" pitchFamily="2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2161</TotalTime>
  <Words>87</Words>
  <Application>Microsoft Macintosh PowerPoint</Application>
  <PresentationFormat>宽屏</PresentationFormat>
  <Paragraphs>21</Paragraphs>
  <Slides>5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华文楷体</vt:lpstr>
      <vt:lpstr>腾讯体 W7</vt:lpstr>
      <vt:lpstr>Arial</vt:lpstr>
      <vt:lpstr>1_Office 主题​​</vt:lpstr>
      <vt:lpstr>think-cell 幻灯片</vt:lpstr>
      <vt:lpstr>PowerPoint 演示文稿</vt:lpstr>
      <vt:lpstr>【本周关注】模型动态</vt:lpstr>
      <vt:lpstr>【本周关注】应用动态</vt:lpstr>
      <vt:lpstr>【本周关注】厂商&amp;投融资动态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DomingoChen</dc:creator>
  <cp:lastModifiedBy>T191913</cp:lastModifiedBy>
  <cp:revision>207</cp:revision>
  <dcterms:created xsi:type="dcterms:W3CDTF">2023-02-15T05:46:03Z</dcterms:created>
  <dcterms:modified xsi:type="dcterms:W3CDTF">2026-02-28T08:00:08Z</dcterms:modified>
</cp:coreProperties>
</file>